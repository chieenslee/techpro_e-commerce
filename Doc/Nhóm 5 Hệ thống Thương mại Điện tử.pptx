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87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Trình bày báo cáo tiến độ TechPro E-Commerce. Nhấn mạnh full-stack: React 19, .NET 10, SQL Server, hơn 25 API, CI/CD GitHub Actions. Repo: github.com/Chieenslee/TechPro_E-Commerce.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21 slide chia 4 phần theo yêu cầu đề bài. Phần 1 kiến trúc (5 slide), phần 2 code (7 slide), phần 3 CI/CD (3 slide), phần 4 vận hành (3 slide) + mở đầu/kết.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Chuyển phần 1: thiết kế tổng quan và chi tiết kiến trúc hệ thống.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Giải thích 3 tầng: Presentation (Vite 5173), Application (Minimal API 7099/5016), Data (SQL + JSON fallback). Pipeline: HTTPS → CORS → endpoint → SqlStore hoặc file. Connection string và OpenAPI dev.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Liệt kê phiên bản cụ thể từ package.json và backend.csproj. Monorepo gồm frontend, backend, database scripts, run-all.ps1, hai workflow GitHub.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Điểm kỹ thuật quan trọng: CanConnectAsync quyết định nhánh. Liệt kê file JSON và bảng SQL. Order status lifecycle. Import qua run-all -ImportData.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Walkthrough customer journey map tới API. Luồng phụ: reviews, wishlist, addresses, newsletter, admin users. Trạng thái đơn CHECK constraint.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Mở phần 2: mô hình và cấu trúc lập trình.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Program.cs monolith, records DTO, dual branch mỗi endpoint, mock auth. Giải thích vì sao không dùng EF/Controllers — đơn giản đồ án.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Đọc danh sách ~20 method SqlStore — đây là DAL thực sự của dự án. Parameterized SQL, transaction order create.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api/, context/, components/ — trách nhiệm từng module. axios gọi backend.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22 route lazy-loaded. AdminRoute và isAuthPage ảnh hưởng layout Header/Footer.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Đi qua từng endpoint nhóm auth/users/newsletter — method + mô tả tham số.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Products CRUD + reviews. Orders create và update status. weatherforecast legacy.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Chi tiết cột và constraint từng bảng. Indexes CI validate. seed và import script.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Mở phần 3 CI/CD và tiêu chuẩn.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4 jobs song song — lệnh cụ thể pnpm/dotnet/grep/sqlcmd. Concurrency cancel-in-progress.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release-artifacts bundle structure. Quy trình PR. ESLint, frozen lockfile, Release build.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Mở phần 4 triển khai và vận hành.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7 bước run-all.ps1 chi tiết. Ma trận test CI vs manual. Production checklist: CORS, JWT, HTTPS.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Tóm đạt vs TODO. Mời Q&amp;A.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B46"/>
              </a:gs>
              <a:gs pos="100000">
                <a:srgbClr val="1A3A5C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16280" y="596741"/>
            <a:ext cx="5639733" cy="2770347"/>
            <a:chOff x="716280" y="596741"/>
            <a:chExt cx="5639733" cy="2770347"/>
          </a:xfrm>
        </p:grpSpPr>
        <p:sp>
          <p:nvSpPr>
            <p:cNvPr id="3" name="TextBox 3"/>
            <p:cNvSpPr txBox="1"/>
            <p:nvPr/>
          </p:nvSpPr>
          <p:spPr>
            <a:xfrm>
              <a:off x="751522" y="596741"/>
              <a:ext cx="2515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FFFF">
                      <a:alphaMod val="65000"/>
                    </a:srgbClr>
                  </a:solidFill>
                  <a:latin typeface="Arial"/>
                  <a:ea typeface="Microsoft YaHei"/>
                  <a:cs typeface="Arial"/>
                </a:rPr>
                <a:t>GITHUB · CHIEENSLEE/TECHPRO_E-COMMERCE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16280" y="1516380"/>
              <a:ext cx="563973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TechPro E-Commerce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37235" y="2265998"/>
              <a:ext cx="291174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>
                      <a:alphaMod val="90000"/>
                    </a:srgbClr>
                  </a:solidFill>
                  <a:latin typeface="Segoe UI"/>
                  <a:ea typeface="Microsoft YaHei"/>
                  <a:cs typeface="Segoe UI"/>
                </a:rPr>
                <a:t>Báo cáo tiến độ dự án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2762250"/>
              <a:ext cx="952500" cy="38100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4855" y="3092768"/>
              <a:ext cx="53085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Microsoft YaHei"/>
                  <a:cs typeface="Segoe UI"/>
                </a:rPr>
                <a:t>Kiến trúc · Mô hình code · CI/CD · Triển khai &amp; vận hành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4000500"/>
            <a:ext cx="10668000" cy="857250"/>
            <a:chOff x="762000" y="4000500"/>
            <a:chExt cx="10668000" cy="857250"/>
          </a:xfrm>
        </p:grpSpPr>
        <p:sp>
          <p:nvSpPr>
            <p:cNvPr id="9" name="Rectangle 9"/>
            <p:cNvSpPr/>
            <p:nvPr/>
          </p:nvSpPr>
          <p:spPr>
            <a:xfrm>
              <a:off x="762000" y="4000500"/>
              <a:ext cx="2476500" cy="85725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0118" y="42286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Stack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8212" y="4498181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React 19 · .NET 10 · SQL Server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29000" y="4000500"/>
              <a:ext cx="2476500" cy="85725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07118" y="4228624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API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05212" y="4498181"/>
              <a:ext cx="2616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25+ REST endpoints (Minimal API)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0" y="4000500"/>
              <a:ext cx="2476500" cy="85725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4118" y="4228624"/>
              <a:ext cx="380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CI/CD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2212" y="4498181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 workflows · 4 parallel CI jobs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0" y="4000500"/>
              <a:ext cx="2667000" cy="85725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41118" y="4228624"/>
              <a:ext cx="893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Ngày báo cáo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39212" y="4498181"/>
              <a:ext cx="1170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Tháng 5 / 2026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545705" y="657844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2971800" cy="685800"/>
            <a:chOff x="533400" y="457200"/>
            <a:chExt cx="2971800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25652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Nội dung báo cáo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4 phần · 21 slide chi tiết kỹ thuật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333500"/>
            <a:ext cx="2667000" cy="3810000"/>
            <a:chOff x="533400" y="1333500"/>
            <a:chExt cx="2667000" cy="3810000"/>
          </a:xfrm>
        </p:grpSpPr>
        <p:sp>
          <p:nvSpPr>
            <p:cNvPr id="7" name="Rectangle 7"/>
            <p:cNvSpPr/>
            <p:nvPr/>
          </p:nvSpPr>
          <p:spPr>
            <a:xfrm>
              <a:off x="533400" y="1333500"/>
              <a:ext cx="2667000" cy="3810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33350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1512" y="1516856"/>
              <a:ext cx="11413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01 · Kiến trúc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70" y="1788795"/>
              <a:ext cx="16330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Thiết kế tổng quan 3 tầng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97929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Thành phần &amp; phiên bản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370" y="2169795"/>
              <a:ext cx="17513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Dual persistence SQL/JSON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2360295"/>
              <a:ext cx="1297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Pipeline HTTP &amp; CORS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550795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Luồng đơn hàng &amp; trạng thái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52800" y="1333500"/>
            <a:ext cx="2667000" cy="3810000"/>
            <a:chOff x="3352800" y="1333500"/>
            <a:chExt cx="2667000" cy="3810000"/>
          </a:xfrm>
        </p:grpSpPr>
        <p:sp>
          <p:nvSpPr>
            <p:cNvPr id="16" name="Rectangle 16"/>
            <p:cNvSpPr/>
            <p:nvPr/>
          </p:nvSpPr>
          <p:spPr>
            <a:xfrm>
              <a:off x="3352800" y="1333500"/>
              <a:ext cx="2667000" cy="3810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52800" y="133350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90912" y="1516856"/>
              <a:ext cx="7962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02 · Code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93770" y="1788795"/>
              <a:ext cx="20142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Backend Program.cs + SqlStore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93770" y="19792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20+ method SqlStore (ADO.NET)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93770" y="216979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Frontend cấu trúc &amp; Context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93770" y="2360295"/>
              <a:ext cx="14424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22 route React Router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93770" y="2550795"/>
              <a:ext cx="15673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REST API đầy đủ (2 slide)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1333500"/>
            <a:ext cx="2667000" cy="3810000"/>
            <a:chOff x="6172200" y="1333500"/>
            <a:chExt cx="2667000" cy="3810000"/>
          </a:xfrm>
        </p:grpSpPr>
        <p:sp>
          <p:nvSpPr>
            <p:cNvPr id="25" name="Rectangle 25"/>
            <p:cNvSpPr/>
            <p:nvPr/>
          </p:nvSpPr>
          <p:spPr>
            <a:xfrm>
              <a:off x="6172200" y="1333500"/>
              <a:ext cx="2667000" cy="3810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172200" y="133350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10312" y="1516856"/>
              <a:ext cx="8480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03 · CI/CD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13170" y="178879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ci.yml — 4 jobs song song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13170" y="1979295"/>
              <a:ext cx="1849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Lint · Build FE/BE · SQL grep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13170" y="216979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release-artifacts.yml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3170" y="2360295"/>
              <a:ext cx="1560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ESLint 10 · pnpm lockfile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13170" y="2550795"/>
              <a:ext cx="15476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Quy trình PR → artifact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991600" y="1333500"/>
            <a:ext cx="2667000" cy="3810000"/>
            <a:chOff x="8991600" y="1333500"/>
            <a:chExt cx="2667000" cy="3810000"/>
          </a:xfrm>
        </p:grpSpPr>
        <p:sp>
          <p:nvSpPr>
            <p:cNvPr id="34" name="Rectangle 34"/>
            <p:cNvSpPr/>
            <p:nvPr/>
          </p:nvSpPr>
          <p:spPr>
            <a:xfrm>
              <a:off x="8991600" y="1333500"/>
              <a:ext cx="2667000" cy="3810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991600" y="133350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29712" y="1516856"/>
              <a:ext cx="11327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04 · Vận hành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32570" y="1788795"/>
              <a:ext cx="1304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run-all.ps1 (6 bước)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32570" y="197929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stop-all.ps1 · sqlcmd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32570" y="2169795"/>
              <a:ext cx="1481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Kiểm thử CI vs thủ công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32570" y="2360295"/>
              <a:ext cx="1541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OpenAPI · backend.http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32570" y="255079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Roadmap production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43" name="Line 43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3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A8C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27760" y="2727960"/>
            <a:ext cx="1070806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1A8CFF"/>
                </a:solidFill>
                <a:latin typeface="Arial"/>
                <a:ea typeface="Microsoft YaHei"/>
                <a:cs typeface="Arial"/>
              </a:rPr>
              <a:t>PHẦN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4900" y="3390900"/>
            <a:ext cx="417071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Kiến trúc hệ thống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855" y="4045268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Thiết kế tổng quan và chi tiết kiến trúc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155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610481" cy="685800"/>
            <a:chOff x="533400" y="457200"/>
            <a:chExt cx="4610481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444918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Kiến trúc tổng quan — 3 tầng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4733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Presentation → Application → Data · dual persistence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238250"/>
            <a:ext cx="11125200" cy="2895600"/>
            <a:chOff x="533400" y="1238250"/>
            <a:chExt cx="11125200" cy="28956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111252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9050">
              <a:solidFill>
                <a:srgbClr val="1A8C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1375410"/>
              <a:ext cx="16590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Tầng Presentation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0570" y="1636395"/>
              <a:ext cx="46037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React 19.2 · Vite 8 · Tailwind 3.4 · React Router 7.15 · axios 1.16 · pnpm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522" y="1854041"/>
              <a:ext cx="4298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8CFF"/>
                  </a:solidFill>
                  <a:latin typeface="Consolas"/>
                  <a:ea typeface="Microsoft YaHei"/>
                  <a:cs typeface="Consolas"/>
                </a:rPr>
                <a:t>http://localhost:5173 · SPA · lazy routes · Auth/Cart/Language Context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09800"/>
              <a:ext cx="111252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9050">
              <a:solidFill>
                <a:srgbClr val="0F2B46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6760" y="2346960"/>
              <a:ext cx="3103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Tầng Application (ASP.NET Core 10)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607945"/>
              <a:ext cx="56684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Minimal API · Program.cs (~1014 dòng) · SqlStore.cs (ADO.NET) · OpenAPI (Development)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2825591"/>
              <a:ext cx="5322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F2B46"/>
                  </a:solidFill>
                  <a:latin typeface="Consolas"/>
                  <a:ea typeface="Microsoft YaHei"/>
                  <a:cs typeface="Consolas"/>
                </a:rPr>
                <a:t>https://localhost:7099 · http://localhost:5016 · CORS TechProFrontend · HTTPS redirect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181350"/>
              <a:ext cx="54102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22C55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6760" y="3318510"/>
              <a:ext cx="2109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Tầng Data — SQL Server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3579495"/>
              <a:ext cx="36967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DB TechPro · Trusted_Connection · schema.sql + seed.sql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522" y="3797141"/>
              <a:ext cx="24609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import-json-data.ps1 · 9 bảng · 5 indexes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48400" y="3181350"/>
              <a:ext cx="54102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  <a:custDash>
                <a:ds d="300000" sp="200000"/>
              </a:custDash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1760" y="3318510"/>
              <a:ext cx="28184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Fallback JSON (backend/Data/)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5570" y="3579495"/>
              <a:ext cx="36638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products.json · orders.json · users.json · reviews.json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5570" y="3789045"/>
              <a:ext cx="32301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8C42"/>
                  </a:solidFill>
                  <a:latin typeface="Segoe UI"/>
                  <a:ea typeface="Microsoft YaHei"/>
                  <a:cs typeface="Segoe UI"/>
                </a:rPr>
                <a:t>Kích hoạt khi SqlStore.CanConnectAsync() = false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4381500"/>
            <a:ext cx="11125200" cy="1905000"/>
            <a:chOff x="533400" y="4381500"/>
            <a:chExt cx="11125200" cy="1905000"/>
          </a:xfrm>
        </p:grpSpPr>
        <p:sp>
          <p:nvSpPr>
            <p:cNvPr id="24" name="Rectangle 24"/>
            <p:cNvSpPr/>
            <p:nvPr/>
          </p:nvSpPr>
          <p:spPr>
            <a:xfrm>
              <a:off x="533400" y="4381500"/>
              <a:ext cx="111252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7712" y="4545806"/>
              <a:ext cx="1995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HTTP Pipeline (backend)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0570" y="4855845"/>
              <a:ext cx="6457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Request → HTTPS Redirection → CORS → Minimal API endpoint → SqlStore / JSON file I/O → JSON Response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0570" y="5141595"/>
              <a:ext cx="80410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ConnectionStrings:TechProDb = Server=localhost;Database=TechPro;Trusted_Connection=True;TrustServerCertificate=True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0570" y="5427345"/>
              <a:ext cx="62270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CORS origins: http://localhost:5173, https://localhost:5173 · AllowAnyHeader · AllowAnyMethod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0570" y="5713095"/>
              <a:ext cx="30198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Development: MapOpenApi() → /openapi/v1.json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0570" y="5998845"/>
              <a:ext cx="65491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2C55E"/>
                  </a:solidFill>
                  <a:latin typeface="Segoe UI"/>
                  <a:ea typeface="Microsoft YaHei"/>
                  <a:cs typeface="Segoe UI"/>
                </a:rPr>
                <a:t>useSqlProducts = await sqlStore.CanConnectAsync() — quyết định nhánh SQL vs JSON cho mọi endpoint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32" name="Line 32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908423" cy="685800"/>
            <a:chOff x="533400" y="457200"/>
            <a:chExt cx="4908423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36279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Thành phần &amp; công nghệ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7712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Monorepo: frontend · backend · database · DevOps · CI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238250"/>
            <a:ext cx="3619500" cy="1905000"/>
            <a:chOff x="533400" y="1238250"/>
            <a:chExt cx="3619500" cy="19050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3619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1512" y="1421606"/>
              <a:ext cx="8825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frontend/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70" y="1693545"/>
              <a:ext cx="20931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React 19.2.5 · react-dom 19.2.5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884045"/>
              <a:ext cx="22968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Vite 8.0.10 · @vitejs/plugin-react 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370" y="2074545"/>
              <a:ext cx="2612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Tailwind 3.4.19 · PostCSS · Autoprefixer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2265045"/>
              <a:ext cx="2244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react-router-dom 7.15 · axios 1.16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45554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ESLint 10 · pnpm-lock.yaml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43400" y="1238250"/>
            <a:ext cx="3619500" cy="1905000"/>
            <a:chOff x="4343400" y="1238250"/>
            <a:chExt cx="36195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4343400" y="1238250"/>
              <a:ext cx="3619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43400" y="12382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1512" y="1421606"/>
              <a:ext cx="787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backend/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4370" y="169354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TargetFramework: net10.0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84370" y="1884045"/>
              <a:ext cx="18893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Program.cs — Minimal API map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4370" y="2074545"/>
              <a:ext cx="20931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SqlStore.cs — ~871 dòng ADO.NET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84370" y="2265045"/>
              <a:ext cx="19156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appsettings.json — TechProDb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4370" y="2455545"/>
              <a:ext cx="19813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backend.http — API smoke test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53400" y="1238250"/>
            <a:ext cx="3505200" cy="1905000"/>
            <a:chOff x="8153400" y="1238250"/>
            <a:chExt cx="35052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8153400" y="1238250"/>
              <a:ext cx="35052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53400" y="1238250"/>
              <a:ext cx="3505200" cy="47625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1512" y="1421606"/>
              <a:ext cx="8825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database/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94370" y="1693545"/>
              <a:ext cx="18368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schema.sql — 9 CREATE TABLE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4370" y="1884045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seed.sql — INSERT mẫu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4370" y="2074545"/>
              <a:ext cx="13964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import-json-data.ps1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4370" y="2265045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sqlcmd trong run-all.ps1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4370" y="245554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CI grep validate bảng/index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" y="3333750"/>
            <a:ext cx="5524500" cy="2667000"/>
            <a:chOff x="533400" y="3333750"/>
            <a:chExt cx="5524500" cy="2667000"/>
          </a:xfrm>
        </p:grpSpPr>
        <p:sp>
          <p:nvSpPr>
            <p:cNvPr id="34" name="Rectangle 34"/>
            <p:cNvSpPr/>
            <p:nvPr/>
          </p:nvSpPr>
          <p:spPr>
            <a:xfrm>
              <a:off x="533400" y="3333750"/>
              <a:ext cx="55245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333750"/>
              <a:ext cx="5524500" cy="47625"/>
            </a:xfrm>
            <a:prstGeom prst="roundRect">
              <a:avLst>
                <a:gd name="adj" fmla="val 50000"/>
              </a:avLst>
            </a:prstGeom>
            <a:solidFill>
              <a:srgbClr val="FF8C4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1512" y="351710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DevOps scripts (root)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370" y="3789045"/>
              <a:ext cx="41042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run-all.ps1 — DB check, schema, import, kill ports, start BE+FE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370" y="3979545"/>
              <a:ext cx="289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-ImportData · -SkipDatabase · -KeepExisting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4370" y="4170045"/>
              <a:ext cx="28752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stop-all.ps1 / .bat — dừng process theo port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4370" y="4360545"/>
              <a:ext cx="33747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Ports: 5173 (Vite), 7099/5016 (.NET), SQL localhost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48400" y="3333750"/>
            <a:ext cx="5410200" cy="2667000"/>
            <a:chOff x="6248400" y="3333750"/>
            <a:chExt cx="5410200" cy="2667000"/>
          </a:xfrm>
        </p:grpSpPr>
        <p:sp>
          <p:nvSpPr>
            <p:cNvPr id="42" name="Rectangle 42"/>
            <p:cNvSpPr/>
            <p:nvPr/>
          </p:nvSpPr>
          <p:spPr>
            <a:xfrm>
              <a:off x="6248400" y="3333750"/>
              <a:ext cx="54102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333750"/>
              <a:ext cx="54102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86512" y="3517106"/>
              <a:ext cx="17192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.github/workflows/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89370" y="3789045"/>
              <a:ext cx="2993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ci.yml — trigger: push/PR main|master|develop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89370" y="3979545"/>
              <a:ext cx="30198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Jobs: workflow, frontend, backend, database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89370" y="4170045"/>
              <a:ext cx="34272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release-artifacts.yml — push main|master + dispatch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89370" y="4360545"/>
              <a:ext cx="29080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Artifact techpro-release · retention 14 ngày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89370" y="4551045"/>
              <a:ext cx="29277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Concurrency cancel-in-progress trên mỗi ref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51" name="Line 51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3" grpId="0"/>
      <p:bldP spid="41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679567" cy="685800"/>
            <a:chOff x="533400" y="457200"/>
            <a:chExt cx="5679567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39178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Chi tiết Dual Persistence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55424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SqlStore.CanConnectAsync() — nhánh SQL ưu tiên, JSON dự phòng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333500"/>
            <a:ext cx="8191500" cy="1714500"/>
            <a:chOff x="762000" y="1333500"/>
            <a:chExt cx="8191500" cy="1714500"/>
          </a:xfrm>
        </p:grpSpPr>
        <p:sp>
          <p:nvSpPr>
            <p:cNvPr id="7" name="Rectangle 7"/>
            <p:cNvSpPr/>
            <p:nvPr/>
          </p:nvSpPr>
          <p:spPr>
            <a:xfrm>
              <a:off x="762000" y="1333500"/>
              <a:ext cx="1905000" cy="533400"/>
            </a:xfrm>
            <a:prstGeom prst="roundRect">
              <a:avLst>
                <a:gd name="adj" fmla="val 14286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7203" y="1561624"/>
              <a:ext cx="854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API Request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667000" y="16002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1A8C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Polygon 10"/>
            <p:cNvSpPr/>
            <p:nvPr/>
          </p:nvSpPr>
          <p:spPr>
            <a:xfrm>
              <a:off x="3200400" y="15430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0" y="0"/>
                  </a:moveTo>
                  <a:lnTo>
                    <a:pt x="1333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333750" y="1333500"/>
              <a:ext cx="2286000" cy="533400"/>
            </a:xfrm>
            <a:prstGeom prst="roundRect">
              <a:avLst>
                <a:gd name="adj" fmla="val 14286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14667" y="1503045"/>
              <a:ext cx="1324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CanConnectAsync()?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476750" y="18669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9050">
              <a:solidFill>
                <a:srgbClr val="22C55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56772" y="210169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2C55E"/>
                  </a:solidFill>
                  <a:latin typeface="Segoe UI"/>
                  <a:ea typeface="Microsoft YaHei"/>
                  <a:cs typeface="Segoe UI"/>
                </a:rPr>
                <a:t>Yes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333750" y="2381250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9050">
              <a:solidFill>
                <a:srgbClr val="22C55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78747" y="2569845"/>
              <a:ext cx="11960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2B46"/>
                  </a:solidFill>
                  <a:latin typeface="Segoe UI"/>
                  <a:ea typeface="Microsoft YaHei"/>
                  <a:cs typeface="Segoe UI"/>
                </a:rPr>
                <a:t>SqlStore methods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55419" y="2795588"/>
              <a:ext cx="22426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GetProductsAsync, CreateOrderAsync...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619750" y="16002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9050">
              <a:solidFill>
                <a:srgbClr val="FF8C42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5022" y="14158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8C42"/>
                  </a:solidFill>
                  <a:latin typeface="Segoe UI"/>
                  <a:ea typeface="Microsoft YaHei"/>
                  <a:cs typeface="Segoe UI"/>
                </a:rPr>
                <a:t>No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0" y="1333500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64316" y="1569720"/>
              <a:ext cx="8923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2B46"/>
                  </a:solidFill>
                  <a:latin typeface="Segoe UI"/>
                  <a:ea typeface="Microsoft YaHei"/>
                  <a:cs typeface="Segoe UI"/>
                </a:rPr>
                <a:t>JSON file I/O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93136" y="1795462"/>
              <a:ext cx="163472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LoadList / SaveList per entity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3429000"/>
            <a:ext cx="5334000" cy="2667000"/>
            <a:chOff x="533400" y="3429000"/>
            <a:chExt cx="5334000" cy="2667000"/>
          </a:xfrm>
        </p:grpSpPr>
        <p:sp>
          <p:nvSpPr>
            <p:cNvPr id="24" name="Rectangle 24"/>
            <p:cNvSpPr/>
            <p:nvPr/>
          </p:nvSpPr>
          <p:spPr>
            <a:xfrm>
              <a:off x="533400" y="3429000"/>
              <a:ext cx="53340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7712" y="3593306"/>
              <a:ext cx="22627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File JSON (backend/Data/)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0570" y="3903345"/>
              <a:ext cx="28094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products.json (~20KB) — danh mục sản phẩm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0570" y="4170045"/>
              <a:ext cx="17645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orders.json — đơn hàng mẫu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0570" y="4436745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users.json — tài khoản Admin/Customer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0570" y="4703445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reviews.json — đánh giá sản phẩm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0570" y="4970145"/>
              <a:ext cx="37887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newsletterSubscribers.json · accountData.json (runtime)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570" y="5332095"/>
              <a:ext cx="32629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Auto-seed BuildProducts() nếu products.json rỗng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0570" y="5598795"/>
              <a:ext cx="31841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run-all.ps1 -ImportData gọi import-json-data.ps1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0" y="3429000"/>
            <a:ext cx="5562600" cy="2667000"/>
            <a:chOff x="6096000" y="3429000"/>
            <a:chExt cx="5562600" cy="2667000"/>
          </a:xfrm>
        </p:grpSpPr>
        <p:sp>
          <p:nvSpPr>
            <p:cNvPr id="34" name="Rectangle 34"/>
            <p:cNvSpPr/>
            <p:nvPr/>
          </p:nvSpPr>
          <p:spPr>
            <a:xfrm>
              <a:off x="6096000" y="3429000"/>
              <a:ext cx="55626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22C55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10312" y="3593306"/>
              <a:ext cx="20729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SQL Server — bảng chính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13170" y="3903345"/>
              <a:ext cx="3683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Users (Role: Admin|Customer, Status: Active|Suspended)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13170" y="4170045"/>
              <a:ext cx="30526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Products + ProductTags · Orders + OrderItems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13170" y="4436745"/>
              <a:ext cx="28423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ProductReviews · Addresses · WishlistItems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13170" y="4703445"/>
              <a:ext cx="31052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NewsletterSubscribers · Order status lifecycle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13170" y="5046345"/>
              <a:ext cx="47417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2C55E"/>
                  </a:solidFill>
                  <a:latin typeface="Segoe UI"/>
                  <a:ea typeface="Microsoft YaHei"/>
                  <a:cs typeface="Segoe UI"/>
                </a:rPr>
                <a:t>Order status: Processing → Paid → Packed → Shipped → Delivered | Cancelled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42" name="Line 42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591021" cy="685800"/>
            <a:chOff x="533400" y="457200"/>
            <a:chExt cx="4591021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446529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Luồng nghiệp vụ E-Commerce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34743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Từ duyệt sản phẩm đến quản trị đơn hàng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842810" y="1220152"/>
            <a:ext cx="25063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Customer Journey + API mapping</a:t>
            </a:r>
          </a:p>
        </p:txBody>
      </p:sp>
      <p:sp>
        <p:nvSpPr>
          <p:cNvPr id="8" name="Rectangle 8"/>
          <p:cNvSpPr/>
          <p:nvPr/>
        </p:nvSpPr>
        <p:spPr>
          <a:xfrm>
            <a:off x="533400" y="161925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1A8C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41112" y="1839278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1. Duyệt SP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7499" y="2120741"/>
            <a:ext cx="10873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/api/products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916" y="2330291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?category=&amp;q=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1332" y="2539841"/>
            <a:ext cx="16596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ProductList / ProductDetail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952750" y="161925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0F2B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560462" y="1839278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2. Giỏ hàng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88756" y="2120741"/>
            <a:ext cx="16234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CartContext (client state)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87566" y="2330291"/>
            <a:ext cx="12258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localStorage persist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40598" y="2539841"/>
            <a:ext cx="7198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/cart route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72100" y="161925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1A8C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939557" y="1839278"/>
            <a:ext cx="9605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3. Checkout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97285" y="21207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/api/orders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00892" y="2330291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CreateOrderRequest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77983" y="2539841"/>
            <a:ext cx="16837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/checkout → /order-success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791450" y="161925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22C55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8495774" y="1839278"/>
            <a:ext cx="686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4. Admin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79893" y="2120741"/>
            <a:ext cx="9186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PUT .../status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69033" y="2330291"/>
            <a:ext cx="13403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AdminRoute role=Admin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16635" y="25398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/admin dashboard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0134600" y="1619250"/>
            <a:ext cx="1524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FF8C4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0719747" y="1847374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Auth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15970" y="2128838"/>
            <a:ext cx="5612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login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59785" y="2319338"/>
            <a:ext cx="4736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register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68094" y="2509838"/>
            <a:ext cx="8570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8C42"/>
                </a:solidFill>
                <a:latin typeface="Segoe UI"/>
                <a:ea typeface="Microsoft YaHei"/>
                <a:cs typeface="Segoe UI"/>
              </a:rPr>
              <a:t>JWT Token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33400" y="3048000"/>
            <a:ext cx="1112520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747712" y="3212306"/>
            <a:ext cx="17537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Luồng phụ &amp; tích hợp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0570" y="3522345"/>
            <a:ext cx="32564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Reviews / Wishlist / Addresses / Newsletter APIs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0570" y="3789045"/>
            <a:ext cx="2973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Admin: GET /api/users · PUT status đơn hàng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0570" y="4055745"/>
            <a:ext cx="51492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Quản lý user (admin): GET /api/users?q=&amp;role=&amp;status= · PUT /api/users/{id}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0570" y="4322445"/>
            <a:ext cx="59773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• i18n: LanguageContext + LanguageToggle · Tin tức: newsApi (static data + API tùy cấu hình)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9618" y="4657249"/>
            <a:ext cx="28880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Trạng thái đơn hàng (CHECK constraint)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1522" y="4940141"/>
            <a:ext cx="34549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Processing → Paid → Packed → Shipped → Delivered | Cancelled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0570" y="5236845"/>
            <a:ext cx="52609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OrderItems lưu snapshot sản phẩm (Name, Price, Qty) — FK cascade khi xóa Order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5503545"/>
            <a:ext cx="47811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GET /api/system/storage — kiểm tra dung lượng lưu trữ (admin/diagnostic)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43" name="Line 43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A8C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27760" y="2727960"/>
            <a:ext cx="1070806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1A8CFF"/>
                </a:solidFill>
                <a:latin typeface="Arial"/>
                <a:ea typeface="Microsoft YaHei"/>
                <a:cs typeface="Arial"/>
              </a:rPr>
              <a:t>PHẦN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4900" y="3390900"/>
            <a:ext cx="644799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Mô hình &amp; cấu trúc lập trình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855" y="404526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Backend · Frontend · REST API · Database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155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975794" cy="685800"/>
            <a:chOff x="533400" y="457200"/>
            <a:chExt cx="5975794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585006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Backend — ASP.NET Core 10 Minimal API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9728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Program.cs monolith + records + dual branch per endpoint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1238250"/>
            <a:ext cx="5715000" cy="4953000"/>
            <a:chOff x="533400" y="1238250"/>
            <a:chExt cx="5715000" cy="49530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5715000" cy="4953000"/>
            </a:xfrm>
            <a:prstGeom prst="roundRect">
              <a:avLst>
                <a:gd name="adj" fmla="val 192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5715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1512" y="1421606"/>
              <a:ext cx="1779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Cấu trúc Program.cs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70" y="1693545"/>
              <a:ext cx="46628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WebApplication.CreateBuilder → AddOpenApi → AddCors(TechProFrontend)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884045"/>
              <a:ext cx="4169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SqlStore(connectionString) + CanConnectAsync → useSqlProducts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370" y="2074545"/>
              <a:ext cx="47943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Load/seed JSON: products, orders, users, reviews, newsletter, account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2265045"/>
              <a:ext cx="36901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MapPost/MapGet/MapPut/MapDelete — 25 endpoint groups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455545"/>
              <a:ext cx="4827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Mỗi handler: if (useSqlProducts) sqlStore.* else in-memory list + SaveList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2646045"/>
              <a:ext cx="33155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AuthResponse(JWT Token, profile) — chưa JWT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370" y="2836545"/>
              <a:ext cx="30592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User mặc định: admin@techpro.eng · role Admin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4370" y="3027045"/>
              <a:ext cx="2244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Suspended user → Results.Forbid()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77000" y="1238250"/>
            <a:ext cx="5181600" cy="2381250"/>
            <a:chOff x="6477000" y="1238250"/>
            <a:chExt cx="51816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6477000" y="1238250"/>
              <a:ext cx="51816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1238250"/>
              <a:ext cx="5181600" cy="47625"/>
            </a:xfrm>
            <a:prstGeom prst="roundRect">
              <a:avLst>
                <a:gd name="adj" fmla="val 50000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5112" y="1421606"/>
              <a:ext cx="14950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C# Records (DTO)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17970" y="1693545"/>
              <a:ext cx="28883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LoginRequest, UserRequest, ProductRequest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7970" y="1884045"/>
              <a:ext cx="27897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CreateOrderRequest, OrderStatusRequest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7970" y="2074545"/>
              <a:ext cx="27963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ProductReviewRequest, NewsletterRequest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7970" y="2265045"/>
              <a:ext cx="2664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AccountAddressRequest, WishlistRequest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7970" y="2455545"/>
              <a:ext cx="27306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AuthResponse, ProfileDto — immutable DTO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77000" y="3810000"/>
            <a:ext cx="5181600" cy="2381250"/>
            <a:chOff x="6477000" y="3810000"/>
            <a:chExt cx="5181600" cy="2381250"/>
          </a:xfrm>
        </p:grpSpPr>
        <p:sp>
          <p:nvSpPr>
            <p:cNvPr id="28" name="Rectangle 28"/>
            <p:cNvSpPr/>
            <p:nvPr/>
          </p:nvSpPr>
          <p:spPr>
            <a:xfrm>
              <a:off x="6477000" y="3810000"/>
              <a:ext cx="51816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77000" y="3810000"/>
              <a:ext cx="5181600" cy="47625"/>
            </a:xfrm>
            <a:prstGeom prst="roundRect">
              <a:avLst>
                <a:gd name="adj" fmla="val 50000"/>
              </a:avLst>
            </a:prstGeom>
            <a:solidFill>
              <a:srgbClr val="FF8C4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5112" y="3993356"/>
              <a:ext cx="21850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Không dùng (đơn giản hóa)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970" y="4265295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Controllers tách file · Areas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970" y="4455795"/>
              <a:ext cx="23297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Entity Framework Core / migrations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7970" y="4646295"/>
              <a:ext cx="25071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Repository + Unit of Work + DI phức tạp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7970" y="4836795"/>
              <a:ext cx="26583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Identity / JWT Bearer (production TODO)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7970" y="5027295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MediatR / CQRS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37" name="Line 37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583174" cy="685800"/>
            <a:chOff x="533400" y="457200"/>
            <a:chExt cx="5583174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514157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SqlStore.cs — Data Access Layer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54460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ADO.NET · ~20 public async methods · Microsoft.Data.SqlClient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238250"/>
            <a:ext cx="11125200" cy="4762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48665" y="1410652"/>
            <a:ext cx="28445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Nhóm method SqlStore (SQL branch)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522" y="1720691"/>
            <a:ext cx="11475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CanConnectAsync()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37522" y="1720691"/>
            <a:ext cx="21958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Kiểm tra kết nối trước khi chọn nhánh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522" y="1987391"/>
            <a:ext cx="52382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Products: GetProductsAsync, GetProductByIdAsync, Create/Update/DeleteProductAsync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1522" y="2254091"/>
            <a:ext cx="71299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Users: GetUsersAsync(q,role,status), GetUserByEmailAsync, CreateUserAsync, UpdateUserAsync, TouchUserLoginAsync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522" y="2520791"/>
            <a:ext cx="42742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Addresses: GetAddressesAsync, SaveAddressAsync, DeleteAddressAsync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1522" y="2787491"/>
            <a:ext cx="42682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Wishlist: GetWishlistAsync, SaveWishlistAsync, DeleteWishlistItemAsync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3054191"/>
            <a:ext cx="62383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Orders: GetOrdersAsync(email), GetOrderByNumberAsync, CreateOrderAsync, UpdateOrderStatusAsync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3320891"/>
            <a:ext cx="3720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Reviews: GetProductReviewsAsync, CreateProductReviewAsync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522" y="3587591"/>
            <a:ext cx="43224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Newsletter: GetNewsletterSubscribersAsync, SubscribeNewsletterAsync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1522" y="3854291"/>
            <a:ext cx="14126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GetAdminProfileAsync()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570" y="4284345"/>
            <a:ext cx="74692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Parameterized SQL — tránh injection · Map reader → C# models · Transaction cho CreateOrder (Order + OrderItems)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570" y="4570095"/>
            <a:ext cx="56552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2C55E"/>
                </a:solidFill>
                <a:latin typeface="Segoe UI"/>
                <a:ea typeface="Microsoft YaHei"/>
                <a:cs typeface="Segoe UI"/>
              </a:rPr>
              <a:t>JSON branch mirror logic trong Program.cs với List&lt;T&gt; + SaveList(path) khi SQL offline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4855845"/>
            <a:ext cx="50637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8C42"/>
                </a:solidFill>
                <a:latin typeface="Segoe UI"/>
                <a:ea typeface="Microsoft YaHei"/>
                <a:cs typeface="Segoe UI"/>
              </a:rPr>
              <a:t>BuildProducts(), BuildUsers(), BuildReviews() — seed code-first khi file trống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0570" y="5236845"/>
            <a:ext cx="36178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File size: SqlStore.cs ~871 lines · Program.cs ~1014 lines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23" name="Line 23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435221" cy="685800"/>
            <a:chOff x="533400" y="457200"/>
            <a:chExt cx="4435221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372459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Frontend — React 19 SPA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2980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Vite + Tailwind · Context API · API clients tách file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1238250"/>
            <a:ext cx="3619500" cy="4953000"/>
            <a:chOff x="533400" y="1238250"/>
            <a:chExt cx="3619500" cy="49530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3619500" cy="4953000"/>
            </a:xfrm>
            <a:prstGeom prst="roundRect">
              <a:avLst>
                <a:gd name="adj" fmla="val 263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1512" y="1421606"/>
              <a:ext cx="744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src/api/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70" y="1693545"/>
              <a:ext cx="2336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authApi.js — login, register, profile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88404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productApi.js — CRUD, filter category/q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370" y="2074545"/>
              <a:ext cx="2691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orderApi.js — list, create, update status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2265045"/>
              <a:ext cx="2651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userApi.js — profile, addresses, wishlist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45554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newsApi.js — tin tức / content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264604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axios baseURL → backend :7099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43400" y="1238250"/>
            <a:ext cx="3619500" cy="4953000"/>
            <a:chOff x="4343400" y="1238250"/>
            <a:chExt cx="3619500" cy="4953000"/>
          </a:xfrm>
        </p:grpSpPr>
        <p:sp>
          <p:nvSpPr>
            <p:cNvPr id="17" name="Rectangle 17"/>
            <p:cNvSpPr/>
            <p:nvPr/>
          </p:nvSpPr>
          <p:spPr>
            <a:xfrm>
              <a:off x="4343400" y="1238250"/>
              <a:ext cx="3619500" cy="4953000"/>
            </a:xfrm>
            <a:prstGeom prst="roundRect">
              <a:avLst>
                <a:gd name="adj" fmla="val 263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43400" y="12382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1512" y="1421606"/>
              <a:ext cx="1167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src/context/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84370" y="1693545"/>
              <a:ext cx="32695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AuthContext — isAuthenticated, user, login/logout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4370" y="1884045"/>
              <a:ext cx="2697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CartContext — items, add/remove, totals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84370" y="2074545"/>
              <a:ext cx="23165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LanguageContext — i18n switch vi/en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4370" y="2265045"/>
              <a:ext cx="27174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AuthContextValue.js — export context ref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4370" y="2455545"/>
              <a:ext cx="22705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Provider wrap trong main.jsx / App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153400" y="1238250"/>
            <a:ext cx="3505200" cy="4953000"/>
            <a:chOff x="8153400" y="1238250"/>
            <a:chExt cx="3505200" cy="4953000"/>
          </a:xfrm>
        </p:grpSpPr>
        <p:sp>
          <p:nvSpPr>
            <p:cNvPr id="26" name="Rectangle 26"/>
            <p:cNvSpPr/>
            <p:nvPr/>
          </p:nvSpPr>
          <p:spPr>
            <a:xfrm>
              <a:off x="8153400" y="1238250"/>
              <a:ext cx="3505200" cy="4953000"/>
            </a:xfrm>
            <a:prstGeom prst="roundRect">
              <a:avLst>
                <a:gd name="adj" fmla="val 271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53400" y="1238250"/>
              <a:ext cx="3505200" cy="47625"/>
            </a:xfrm>
            <a:prstGeom prst="roundRect">
              <a:avLst>
                <a:gd name="adj" fmla="val 50000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91512" y="1421606"/>
              <a:ext cx="14863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src/components/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4370" y="1693545"/>
              <a:ext cx="29015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Header.jsx (~9KB) — nav, search, cart badge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4370" y="1884045"/>
              <a:ext cx="2461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Footer.jsx (~4KB) — links, newsletter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4370" y="2074545"/>
              <a:ext cx="21785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LanguageToggle.jsx — đổi ngôn ngữ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4370" y="2265045"/>
              <a:ext cx="23165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ProductCard, filters (trong pages)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4370" y="2455545"/>
              <a:ext cx="2356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Lazy Suspense RouteLoading fallback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35" name="Line 35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75828" y="6616541"/>
              <a:ext cx="932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090184" cy="685800"/>
            <a:chOff x="533400" y="457200"/>
            <a:chExt cx="5090184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49644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React Router — Danh sách route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6222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BrowserRouter · lazy import · AdminRoute · 18 routes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162050"/>
            <a:ext cx="5524500" cy="266700"/>
          </a:xfrm>
          <a:prstGeom prst="roundRect">
            <a:avLst>
              <a:gd name="adj" fmla="val 14286"/>
            </a:avLst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37222" y="124444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Route → Page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14859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76275" y="15668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3975" y="156686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28975" y="1566862"/>
            <a:ext cx="2819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Home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33400" y="17335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76275" y="18145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3975" y="1814512"/>
            <a:ext cx="5612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/products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28975" y="1814512"/>
            <a:ext cx="65436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ProductList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33400" y="19812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76275" y="20621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3975" y="2062162"/>
            <a:ext cx="7748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/products/:id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28975" y="2062162"/>
            <a:ext cx="7474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ProductDetail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33400" y="22288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676275" y="2309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3975" y="2309812"/>
            <a:ext cx="3202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/cart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28975" y="2309812"/>
            <a:ext cx="2600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Cart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" y="24765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676275" y="25574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3975" y="2557462"/>
            <a:ext cx="5612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/checkout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28975" y="2557462"/>
            <a:ext cx="5010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Checkout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33400" y="27241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676275" y="28051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23975" y="2805112"/>
            <a:ext cx="86248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/order-success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228975" y="2805112"/>
            <a:ext cx="76390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OrderSuccess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33400" y="29718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676275" y="30527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23975" y="3052762"/>
            <a:ext cx="5010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/account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228975" y="3052762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Account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33400" y="32194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676275" y="33004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23975" y="3300412"/>
            <a:ext cx="32575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/login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28975" y="3300412"/>
            <a:ext cx="2928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Login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33400" y="34671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676275" y="35480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23975" y="3548062"/>
            <a:ext cx="3750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/admin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228975" y="3548062"/>
            <a:ext cx="10103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Admin (protected)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33400" y="37147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676275" y="37957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23975" y="3795712"/>
            <a:ext cx="3421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/news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228975" y="3795712"/>
            <a:ext cx="2819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News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33400" y="3962400"/>
            <a:ext cx="55245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676275" y="40433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23975" y="4043362"/>
            <a:ext cx="5557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/news/:id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228975" y="4043362"/>
            <a:ext cx="5886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NewsDetail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248400" y="1162050"/>
            <a:ext cx="5410200" cy="266700"/>
          </a:xfrm>
          <a:prstGeom prst="roundRect">
            <a:avLst>
              <a:gd name="adj" fmla="val 14286"/>
            </a:avLst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6352222" y="124444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Route → Page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248400" y="1485900"/>
            <a:ext cx="5410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6391275" y="15668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038975" y="1566862"/>
            <a:ext cx="3805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/about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943975" y="1566862"/>
            <a:ext cx="3202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About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48400" y="1733550"/>
            <a:ext cx="5410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 60"/>
          <p:cNvSpPr txBox="1"/>
          <p:nvPr/>
        </p:nvSpPr>
        <p:spPr>
          <a:xfrm>
            <a:off x="6391275" y="18145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038975" y="1814512"/>
            <a:ext cx="5010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/contact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943975" y="1814512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Contact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248400" y="1981200"/>
            <a:ext cx="5410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 64"/>
          <p:cNvSpPr txBox="1"/>
          <p:nvPr/>
        </p:nvSpPr>
        <p:spPr>
          <a:xfrm>
            <a:off x="6391275" y="20621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038975" y="2062162"/>
            <a:ext cx="5338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/services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943975" y="2062162"/>
            <a:ext cx="4736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Services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248400" y="2228850"/>
            <a:ext cx="5410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 68"/>
          <p:cNvSpPr txBox="1"/>
          <p:nvPr/>
        </p:nvSpPr>
        <p:spPr>
          <a:xfrm>
            <a:off x="6391275" y="2309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038975" y="230981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/policies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943975" y="2309812"/>
            <a:ext cx="4188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Policies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248400" y="2476500"/>
            <a:ext cx="5410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Box 72"/>
          <p:cNvSpPr txBox="1"/>
          <p:nvPr/>
        </p:nvSpPr>
        <p:spPr>
          <a:xfrm>
            <a:off x="6391275" y="25574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038975" y="2557462"/>
            <a:ext cx="2819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/rma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943975" y="2557462"/>
            <a:ext cx="2216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RMA</a:t>
            </a:r>
          </a:p>
        </p:txBody>
      </p:sp>
      <p:sp>
        <p:nvSpPr>
          <p:cNvPr id="75" name="Rectangle 75"/>
          <p:cNvSpPr/>
          <p:nvPr/>
        </p:nvSpPr>
        <p:spPr>
          <a:xfrm>
            <a:off x="6248400" y="2724150"/>
            <a:ext cx="5410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Box 76"/>
          <p:cNvSpPr txBox="1"/>
          <p:nvPr/>
        </p:nvSpPr>
        <p:spPr>
          <a:xfrm>
            <a:off x="6391275" y="28051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038975" y="2805112"/>
            <a:ext cx="8022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/server-error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943975" y="2805112"/>
            <a:ext cx="6817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ServerError</a:t>
            </a:r>
          </a:p>
        </p:txBody>
      </p:sp>
      <p:sp>
        <p:nvSpPr>
          <p:cNvPr id="79" name="Rectangle 79"/>
          <p:cNvSpPr/>
          <p:nvPr/>
        </p:nvSpPr>
        <p:spPr>
          <a:xfrm>
            <a:off x="6248400" y="2971800"/>
            <a:ext cx="5410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 80"/>
          <p:cNvSpPr txBox="1"/>
          <p:nvPr/>
        </p:nvSpPr>
        <p:spPr>
          <a:xfrm>
            <a:off x="6391275" y="30527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038975" y="3052762"/>
            <a:ext cx="44624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/loading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943975" y="3052762"/>
            <a:ext cx="7967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SystemLoading</a:t>
            </a:r>
          </a:p>
        </p:txBody>
      </p:sp>
      <p:sp>
        <p:nvSpPr>
          <p:cNvPr id="83" name="Rectangle 83"/>
          <p:cNvSpPr/>
          <p:nvPr/>
        </p:nvSpPr>
        <p:spPr>
          <a:xfrm>
            <a:off x="6248400" y="3219450"/>
            <a:ext cx="5410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Box 84"/>
          <p:cNvSpPr txBox="1"/>
          <p:nvPr/>
        </p:nvSpPr>
        <p:spPr>
          <a:xfrm>
            <a:off x="6391275" y="33004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038975" y="3300412"/>
            <a:ext cx="8898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/payment-failed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943975" y="3300412"/>
            <a:ext cx="7693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PaymentFailed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248400" y="3467100"/>
            <a:ext cx="5410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Box 88"/>
          <p:cNvSpPr txBox="1"/>
          <p:nvPr/>
        </p:nvSpPr>
        <p:spPr>
          <a:xfrm>
            <a:off x="6391275" y="35480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7038975" y="3548062"/>
            <a:ext cx="7365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/maintenance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943975" y="3548062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Maintenance</a:t>
            </a:r>
          </a:p>
        </p:txBody>
      </p:sp>
      <p:sp>
        <p:nvSpPr>
          <p:cNvPr id="91" name="Rectangle 91"/>
          <p:cNvSpPr/>
          <p:nvPr/>
        </p:nvSpPr>
        <p:spPr>
          <a:xfrm>
            <a:off x="6248400" y="3714750"/>
            <a:ext cx="5410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Box 92"/>
          <p:cNvSpPr txBox="1"/>
          <p:nvPr/>
        </p:nvSpPr>
        <p:spPr>
          <a:xfrm>
            <a:off x="6391275" y="37957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038975" y="37957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*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943975" y="3795712"/>
            <a:ext cx="5010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NotFound</a:t>
            </a:r>
          </a:p>
        </p:txBody>
      </p:sp>
      <p:sp>
        <p:nvSpPr>
          <p:cNvPr id="95" name="Rectangle 95"/>
          <p:cNvSpPr/>
          <p:nvPr/>
        </p:nvSpPr>
        <p:spPr>
          <a:xfrm>
            <a:off x="533400" y="4362450"/>
            <a:ext cx="111252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 96"/>
          <p:cNvSpPr txBox="1"/>
          <p:nvPr/>
        </p:nvSpPr>
        <p:spPr>
          <a:xfrm>
            <a:off x="750570" y="4493895"/>
            <a:ext cx="55632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isAuthPage: /login, /server-error, /loading, /admin* — layout riêng (LanguageToggle)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50570" y="4722495"/>
            <a:ext cx="35850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8C42"/>
                </a:solidFill>
                <a:latin typeface="Segoe UI"/>
                <a:ea typeface="Microsoft YaHei"/>
                <a:cs typeface="Segoe UI"/>
              </a:rPr>
              <a:t>AdminRoute: bắt buộc isAuthenticated và role === Admin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98" name="Line 98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153787" cy="685800"/>
            <a:chOff x="533400" y="457200"/>
            <a:chExt cx="5153787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221101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REST API (1/2)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501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Auth · Users · Addresses · Wishlist · Newsletter · System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143000"/>
            <a:ext cx="11125200" cy="323850"/>
          </a:xfrm>
          <a:prstGeom prst="roundRect">
            <a:avLst>
              <a:gd name="adj" fmla="val 17647"/>
            </a:avLst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74370" y="1264920"/>
            <a:ext cx="326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HTTP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2070" y="1264920"/>
            <a:ext cx="595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Endpoint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94070" y="1264920"/>
            <a:ext cx="1078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Mô tả / Tham số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33400" y="1466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76275" y="15478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3975" y="1547812"/>
            <a:ext cx="8405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/api/auth/login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24475" y="1547812"/>
            <a:ext cx="24288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Email, FullName → AuthResponse + JWT Token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3400" y="17526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76275" y="183356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3975" y="1833562"/>
            <a:ext cx="10487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/api/auth/register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24475" y="1833562"/>
            <a:ext cx="12951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Conflict nếu email trùng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20383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76275" y="21193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3975" y="2119312"/>
            <a:ext cx="9610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/api/auth/profile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24475" y="2119312"/>
            <a:ext cx="164020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Admin profile (SQL hoặc JSON)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33400" y="23241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676275" y="24050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3975" y="2405062"/>
            <a:ext cx="594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24475" y="2405062"/>
            <a:ext cx="18976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Query: q, role, status — admin list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33400" y="2609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676275" y="2690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8C42"/>
                </a:solidFill>
                <a:latin typeface="Consolas"/>
                <a:ea typeface="Microsoft YaHei"/>
                <a:cs typeface="Consolas"/>
              </a:rPr>
              <a:t>PUT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3975" y="2690812"/>
            <a:ext cx="8679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24475" y="2690812"/>
            <a:ext cx="18373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UserRequest update · email unique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33400" y="28956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676275" y="29765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23975" y="2976562"/>
            <a:ext cx="14704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/api/users/{id}/addresses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24475" y="2976562"/>
            <a:ext cx="14813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Danh sách địa chỉ giao hàng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33400" y="31813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676275" y="32623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3975" y="3262312"/>
            <a:ext cx="14704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/api/users/{id}/addresses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24475" y="3262312"/>
            <a:ext cx="12842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AccountAddressRequest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33400" y="34671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676275" y="3548062"/>
            <a:ext cx="39859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DELETE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23975" y="3548062"/>
            <a:ext cx="18045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/api/users/{id}/addresses/{aid}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324475" y="3548062"/>
            <a:ext cx="6269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Xóa địa chỉ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33400" y="3752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676275" y="3833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23975" y="3833812"/>
            <a:ext cx="13499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/api/users/{id}/wishlist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24475" y="3833812"/>
            <a:ext cx="10815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 IDs wishlist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33400" y="40386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676275" y="41195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8C42"/>
                </a:solidFill>
                <a:latin typeface="Consolas"/>
                <a:ea typeface="Microsoft YaHei"/>
                <a:cs typeface="Consolas"/>
              </a:rPr>
              <a:t>PUT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23975" y="4119562"/>
            <a:ext cx="13499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/api/users/{id}/wishlist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24475" y="4119562"/>
            <a:ext cx="159091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WishlistRequest productIds[]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33400" y="43243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676275" y="4405312"/>
            <a:ext cx="39859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DELETE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23975" y="4405312"/>
            <a:ext cx="16840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/api/users/{id}/wishlist/{pid}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324475" y="4405312"/>
            <a:ext cx="10596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Bỏ 1 SP khỏi wishlist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33400" y="46101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676275" y="46910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23975" y="4691062"/>
            <a:ext cx="15854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/api/newsletter/subscribers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324475" y="4691062"/>
            <a:ext cx="1256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Admin — danh sách email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33400" y="4895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 60"/>
          <p:cNvSpPr txBox="1"/>
          <p:nvPr/>
        </p:nvSpPr>
        <p:spPr>
          <a:xfrm>
            <a:off x="676275" y="49768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23975" y="4976812"/>
            <a:ext cx="14649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/api/newsletter/subscribe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324475" y="4976812"/>
            <a:ext cx="15690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Email → Created hoặc existing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33400" y="518160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 64"/>
          <p:cNvSpPr txBox="1"/>
          <p:nvPr/>
        </p:nvSpPr>
        <p:spPr>
          <a:xfrm>
            <a:off x="676275" y="526256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23975" y="5262562"/>
            <a:ext cx="11582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/api/system/storage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324475" y="5262562"/>
            <a:ext cx="12677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Diagnostic storage info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67" name="Line 67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2621280" cy="685800"/>
            <a:chOff x="533400" y="457200"/>
            <a:chExt cx="2621280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22915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REST API (2/2)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Products · Reviews · Orders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143000"/>
            <a:ext cx="11125200" cy="323850"/>
          </a:xfrm>
          <a:prstGeom prst="roundRect">
            <a:avLst>
              <a:gd name="adj" fmla="val 17647"/>
            </a:avLst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74370" y="1264920"/>
            <a:ext cx="326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HTTP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2070" y="1264920"/>
            <a:ext cx="595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Endpoint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94070" y="1264920"/>
            <a:ext cx="1078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Mô tả / Tham số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33400" y="1466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76275" y="1547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3975" y="1547812"/>
            <a:ext cx="7748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24475" y="1547812"/>
            <a:ext cx="12075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?category= &amp; q= filter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3400" y="17716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76275" y="18526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3975" y="1852612"/>
            <a:ext cx="10487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/api/products/{id}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24475" y="1852612"/>
            <a:ext cx="9939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Chi tiết 1 sản phẩm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20764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76275" y="21574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3975" y="2157412"/>
            <a:ext cx="7748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24475" y="2157412"/>
            <a:ext cx="16785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ProductRequest — admin create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33400" y="23812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676275" y="24622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8C42"/>
                </a:solidFill>
                <a:latin typeface="Consolas"/>
                <a:ea typeface="Microsoft YaHei"/>
                <a:cs typeface="Consolas"/>
              </a:rPr>
              <a:t>PUT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3975" y="2462212"/>
            <a:ext cx="10487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/api/products/{id}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24475" y="2462212"/>
            <a:ext cx="6269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Cập nhật SP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33400" y="26860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676275" y="2767012"/>
            <a:ext cx="39859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DELETE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3975" y="2767012"/>
            <a:ext cx="10487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/api/products/{id}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24475" y="2767012"/>
            <a:ext cx="3531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Xóa SP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33400" y="29908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676275" y="3071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23975" y="3071812"/>
            <a:ext cx="15251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/api/products/{id}/reviews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24475" y="3071812"/>
            <a:ext cx="1256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Reviews theo productId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33400" y="32956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676275" y="33766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3975" y="3376612"/>
            <a:ext cx="15251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/api/products/{id}/reviews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24475" y="3376612"/>
            <a:ext cx="1218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ProductReviewRequest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33400" y="36004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676275" y="36814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23975" y="3681412"/>
            <a:ext cx="65436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/api/orders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324475" y="3681412"/>
            <a:ext cx="12349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?email= filter đơn hàng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33400" y="39052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676275" y="39862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23975" y="3986212"/>
            <a:ext cx="15197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/api/orders/{orderNumber}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24475" y="3986212"/>
            <a:ext cx="10541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Chi tiết đơn + items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33400" y="42100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676275" y="4291012"/>
            <a:ext cx="295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POST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23975" y="4291012"/>
            <a:ext cx="65436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/api/orders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24475" y="4291012"/>
            <a:ext cx="17333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CreateOrderRequest — checkout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33400" y="4514850"/>
            <a:ext cx="11125200" cy="24765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676275" y="45958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8C42"/>
                </a:solidFill>
                <a:latin typeface="Consolas"/>
                <a:ea typeface="Microsoft YaHei"/>
                <a:cs typeface="Consolas"/>
              </a:rPr>
              <a:t>PUT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23975" y="4595812"/>
            <a:ext cx="13773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/api/orders/{no}/status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324475" y="4595812"/>
            <a:ext cx="154709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OrderStatusRequest — admin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33400" y="4819650"/>
            <a:ext cx="111252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676275" y="4900612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GET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23975" y="4900612"/>
            <a:ext cx="10048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/weatherforecast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324475" y="4900612"/>
            <a:ext cx="13718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Template sample (legacy)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59" name="Line 59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5170694" cy="685800"/>
            <a:chOff x="533400" y="457200"/>
            <a:chExt cx="5170694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504496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Database Schema — Chi tiết bảng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26769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SQL Server dbo.* · schema.sql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49618" y="1132999"/>
            <a:ext cx="43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Users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2475" y="1347788"/>
            <a:ext cx="554521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Id PK, Name, Email UNIQUE, Role (Admin|Customer), Status (Active|Suspended), CreatedAt, LastLoginAt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618" y="1590199"/>
            <a:ext cx="17591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Products + ProductTags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2475" y="1804988"/>
            <a:ext cx="4813818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Price, OriginalPrice, Rating 0-5, Sku UNIQUE, Image, IsNew, OnSale · Tags (ProductId, Tag) </a:t>
            </a:r>
            <a:endParaRPr lang="vi-VN" altLang="zh-CN" sz="750" dirty="0">
              <a:solidFill>
                <a:srgbClr val="64748B"/>
              </a:solidFill>
              <a:latin typeface="Consolas"/>
              <a:ea typeface="Microsoft YaHei"/>
              <a:cs typeface="Consolas"/>
            </a:endParaRPr>
          </a:p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PK composite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2047399"/>
            <a:ext cx="15648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Orders + OrderItems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2475" y="2262188"/>
            <a:ext cx="465512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OrderNumber PK, UserId FK, Customer*, address fields, Subtotal/Shipping/Discount/Total, </a:t>
            </a:r>
            <a:endParaRPr lang="vi-VN" altLang="zh-CN" sz="750" dirty="0">
              <a:solidFill>
                <a:srgbClr val="64748B"/>
              </a:solidFill>
              <a:latin typeface="Consolas"/>
              <a:ea typeface="Microsoft YaHei"/>
              <a:cs typeface="Consolas"/>
            </a:endParaRPr>
          </a:p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Status CHECK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5576" y="2523798"/>
            <a:ext cx="466891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OrderItems: ProductId FK nullable, Name, Price, Qty, Image snapshot — CASCADE delete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83618" y="1132999"/>
            <a:ext cx="1168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ProductReviews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86475" y="1347788"/>
            <a:ext cx="33763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ProductId, UserId FK, Author, Rating 1-5, Comment, CreatedAt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83618" y="1590199"/>
            <a:ext cx="7648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Addresses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86475" y="1804988"/>
            <a:ext cx="35297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UserId FK CASCADE, Label, Recipient, Phone, Line1, City, IsDefault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83618" y="2047399"/>
            <a:ext cx="1004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WishlistItems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6475" y="2262188"/>
            <a:ext cx="23631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PK (UserId, ProductId) — CASCADE both sides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83618" y="2504599"/>
            <a:ext cx="17068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NewsletterSubscribers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86475" y="2719388"/>
            <a:ext cx="22262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Email UNIQUE, Status Active|Unsubscribed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33400" y="3238500"/>
            <a:ext cx="111252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22C55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748665" y="3410902"/>
            <a:ext cx="28525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Indexes &amp; Constraints (CI validated)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1522" y="3720941"/>
            <a:ext cx="51177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IX_Products_Category · IX_Orders_CustomerEmail · IX_Orders_Status_CreatedAt DESC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1522" y="3987641"/>
            <a:ext cx="37441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IX_ProductReviews_ProductId_CreatedAt · IX_Addresses_UserId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570" y="4322445"/>
            <a:ext cx="82578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CHECK: CK_Users_Role, CK_Users_Status, CK_Products_Price&gt;0, CK_Products_Rating, CK_Orders_Status, CK_OrderItems_Qty&gt;0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0570" y="4665345"/>
            <a:ext cx="40647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seed.sql: INSERT Products, Users mẫu — CI grep đảm bảo tồn tại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0570" y="5008245"/>
            <a:ext cx="62270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import-json-data.ps1: merge JSON → SQL (NewsletterSubscribers, OrderItems referenced in CI)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29" name="Line 29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A8C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27760" y="2727960"/>
            <a:ext cx="1070806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1A8CFF"/>
                </a:solidFill>
                <a:latin typeface="Arial"/>
                <a:ea typeface="Microsoft YaHei"/>
                <a:cs typeface="Arial"/>
              </a:rPr>
              <a:t>PHẦN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4900" y="3390900"/>
            <a:ext cx="405569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CI/CD &amp; tiêu chuẩn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855" y="4045268"/>
            <a:ext cx="49831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GitHub Actions · ESLint · .NET build · SQL validation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45705" y="657844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6170295" cy="685800"/>
            <a:chOff x="533400" y="457200"/>
            <a:chExt cx="6170295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39178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ci.yml — Chi tiết từng job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6033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on: push/PR → main|master|develop · concurrency: cancel-in-progress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238250"/>
            <a:ext cx="2667000" cy="4953000"/>
            <a:chOff x="533400" y="1238250"/>
            <a:chExt cx="2667000" cy="49530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2667000" cy="4953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1512" y="1421606"/>
              <a:ext cx="12017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job: workflow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370" y="1693545"/>
              <a:ext cx="15476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runs-on: ubuntu-latest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4370" y="1884045"/>
              <a:ext cx="8181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checkout@v4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370" y="2074545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Ruby: YAML.load_file mỗi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2265045"/>
              <a:ext cx="1665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.github/workflows/*.yml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455545"/>
              <a:ext cx="15213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Fail nếu syntax YAML lỗi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52800" y="1238250"/>
            <a:ext cx="2667000" cy="4953000"/>
            <a:chOff x="3352800" y="1238250"/>
            <a:chExt cx="2667000" cy="4953000"/>
          </a:xfrm>
        </p:grpSpPr>
        <p:sp>
          <p:nvSpPr>
            <p:cNvPr id="16" name="Rectangle 16"/>
            <p:cNvSpPr/>
            <p:nvPr/>
          </p:nvSpPr>
          <p:spPr>
            <a:xfrm>
              <a:off x="3352800" y="1238250"/>
              <a:ext cx="2667000" cy="4953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52800" y="123825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90912" y="1421606"/>
              <a:ext cx="1175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job: frontend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93770" y="1693545"/>
              <a:ext cx="19025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working-directory: frontend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93770" y="1884045"/>
              <a:ext cx="17973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pnpm/action-setup@v4 → v10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93770" y="2074545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setup-node@v4 → Node 24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93770" y="2265045"/>
              <a:ext cx="14950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cache: pnpm-lock.yaml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93770" y="245554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pnpm install --frozen-lockfile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93770" y="26460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pnpm lint (ESLint 10)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3770" y="283654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pnpm build (Vite production)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72200" y="1238250"/>
            <a:ext cx="2667000" cy="4953000"/>
            <a:chOff x="6172200" y="1238250"/>
            <a:chExt cx="2667000" cy="4953000"/>
          </a:xfrm>
        </p:grpSpPr>
        <p:sp>
          <p:nvSpPr>
            <p:cNvPr id="27" name="Rectangle 27"/>
            <p:cNvSpPr/>
            <p:nvPr/>
          </p:nvSpPr>
          <p:spPr>
            <a:xfrm>
              <a:off x="6172200" y="1238250"/>
              <a:ext cx="2667000" cy="4953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72200" y="123825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10312" y="1421606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job: backend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13170" y="1693545"/>
              <a:ext cx="18302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working-directory: backend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3170" y="1884045"/>
              <a:ext cx="16593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setup-dotnet@v4 → 10.0.x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13170" y="2074545"/>
              <a:ext cx="1002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dotnet restore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13170" y="2265045"/>
              <a:ext cx="1488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dotnet build -c Release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13170" y="2455545"/>
              <a:ext cx="8903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--no-restore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13170" y="264604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Nullable reference types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991600" y="1238250"/>
            <a:ext cx="2667000" cy="4953000"/>
            <a:chOff x="8991600" y="1238250"/>
            <a:chExt cx="2667000" cy="4953000"/>
          </a:xfrm>
        </p:grpSpPr>
        <p:sp>
          <p:nvSpPr>
            <p:cNvPr id="37" name="Rectangle 37"/>
            <p:cNvSpPr/>
            <p:nvPr/>
          </p:nvSpPr>
          <p:spPr>
            <a:xfrm>
              <a:off x="8991600" y="1238250"/>
              <a:ext cx="2667000" cy="4953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991600" y="1238250"/>
              <a:ext cx="2667000" cy="47625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29712" y="1421606"/>
              <a:ext cx="1175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job: database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32570" y="1693545"/>
              <a:ext cx="1909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test -s schema.sql, seed.sql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32570" y="1884045"/>
              <a:ext cx="1803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grep CREATE TABLE Products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32570" y="2074545"/>
              <a:ext cx="1810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Orders, Users, OrderItems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32570" y="22650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grep CREATE INDEX IX_*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32570" y="245554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grep INSERT seed data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32570" y="2646045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pwsh: Parser::ParseFile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32570" y="2836545"/>
              <a:ext cx="13964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import-json-data.ps1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48" name="Line 48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6" grpId="0"/>
      <p:bldP spid="36" grpId="0"/>
      <p:bldP spid="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124063" cy="685800"/>
            <a:chOff x="533400" y="457200"/>
            <a:chExt cx="4124063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399833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Release &amp; tiêu chuẩn code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32289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release-artifacts.yml + quy trình PR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238250"/>
            <a:ext cx="111252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A8C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47712" y="1402556"/>
            <a:ext cx="1926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release-artifacts.yml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0570" y="1693545"/>
            <a:ext cx="49783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on: push main|master · workflow_dispatch · concurrency cancel-in-progress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570" y="1960245"/>
            <a:ext cx="114848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Steps: checkout → pnpm install/lint/build → dotnet publish -o artifacts/backend → cp frontend/dist + database → verify files → upload-artifact@v4 name=techpro-release (14 days)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522" y="2235041"/>
            <a:ext cx="59852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Verify: artifacts/frontend/index.html · artifacts/backend/backend.dll · artifacts/database/*.sql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493645"/>
            <a:ext cx="59838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Bundle deployable: static FE + published DLL + SQL scripts — sẵn sàng IIS/Kestrel + SQL deploy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33400" y="3333750"/>
            <a:ext cx="3619500" cy="2476500"/>
            <a:chOff x="533400" y="3333750"/>
            <a:chExt cx="3619500" cy="2476500"/>
          </a:xfrm>
        </p:grpSpPr>
        <p:sp>
          <p:nvSpPr>
            <p:cNvPr id="13" name="Rectangle 13"/>
            <p:cNvSpPr/>
            <p:nvPr/>
          </p:nvSpPr>
          <p:spPr>
            <a:xfrm>
              <a:off x="533400" y="3333750"/>
              <a:ext cx="3619500" cy="24765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337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1512" y="3517106"/>
              <a:ext cx="1693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Frontend standards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370" y="3789045"/>
              <a:ext cx="2402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ESLint 10 + eslint-plugin-react-hooks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4370" y="397954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eslint-plugin-react-refresh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4370" y="4170045"/>
              <a:ext cx="1803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pnpm --frozen-lockfile (CI)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4370" y="4360545"/>
              <a:ext cx="19288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Vite build = production assets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4370" y="455104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No TypeScript (JSX only)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43400" y="3333750"/>
            <a:ext cx="3619500" cy="2476500"/>
            <a:chOff x="4343400" y="3333750"/>
            <a:chExt cx="3619500" cy="2476500"/>
          </a:xfrm>
        </p:grpSpPr>
        <p:sp>
          <p:nvSpPr>
            <p:cNvPr id="22" name="Rectangle 22"/>
            <p:cNvSpPr/>
            <p:nvPr/>
          </p:nvSpPr>
          <p:spPr>
            <a:xfrm>
              <a:off x="4343400" y="3333750"/>
              <a:ext cx="3619500" cy="24765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343400" y="3333750"/>
              <a:ext cx="3619500" cy="47625"/>
            </a:xfrm>
            <a:prstGeom prst="roundRect">
              <a:avLst>
                <a:gd name="adj" fmla="val 50000"/>
              </a:avLst>
            </a:prstGeom>
            <a:solidFill>
              <a:srgbClr val="0F2B4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1512" y="3517106"/>
              <a:ext cx="15985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Backend standards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84370" y="3789045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.NET 10 SDK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84370" y="397954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Release configuration build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4370" y="41700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ImplicitUsings enable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84370" y="43605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Nullable enable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84370" y="4551045"/>
              <a:ext cx="20273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Minimal API naming .WithName()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153400" y="3333750"/>
            <a:ext cx="3505200" cy="2476500"/>
            <a:chOff x="8153400" y="3333750"/>
            <a:chExt cx="3505200" cy="2476500"/>
          </a:xfrm>
        </p:grpSpPr>
        <p:sp>
          <p:nvSpPr>
            <p:cNvPr id="31" name="Rectangle 31"/>
            <p:cNvSpPr/>
            <p:nvPr/>
          </p:nvSpPr>
          <p:spPr>
            <a:xfrm>
              <a:off x="8153400" y="3333750"/>
              <a:ext cx="3505200" cy="24765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53400" y="3333750"/>
              <a:ext cx="3505200" cy="47625"/>
            </a:xfrm>
            <a:prstGeom prst="roundRect">
              <a:avLst>
                <a:gd name="adj" fmla="val 50000"/>
              </a:avLst>
            </a:prstGeom>
            <a:solidFill>
              <a:srgbClr val="FF8C4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1512" y="3517106"/>
              <a:ext cx="15467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Quy trình đề xuất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4370" y="378904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feature/* → PR → develop/main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94370" y="397954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CI 4/4 jobs must pass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4370" y="417004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Merge → auto release artifact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94370" y="4360545"/>
              <a:ext cx="19156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Local: run-all.ps1 trước demo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94370" y="4551045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TODO: unit tests, E2E, Sonar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40" name="Line 40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0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A8C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27760" y="2727960"/>
            <a:ext cx="1070806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1A8CFF"/>
                </a:solidFill>
                <a:latin typeface="Arial"/>
                <a:ea typeface="Microsoft YaHei"/>
                <a:cs typeface="Arial"/>
              </a:rPr>
              <a:t>PHẦN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4900" y="3390900"/>
            <a:ext cx="46997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Triển khai &amp; vận hành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45705" y="657844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220675" cy="685800"/>
            <a:chOff x="533400" y="457200"/>
            <a:chExt cx="4220675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40949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Triển khai local &amp; kiểm thử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3491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run-all.ps1 · stop-all.ps1 · ma trận test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47712" y="1116806"/>
            <a:ext cx="19521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run-all.ps1 — từng bước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0570" y="1407795"/>
            <a:ext cx="41765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1. Test-CommandExists sqlcmd · Invoke-Sql SELECT @@SERVERNAME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0570" y="1636395"/>
            <a:ext cx="3709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2. IF DB_ID('TechPro') IS NULL → CREATE DATABASE TechPro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570" y="1864995"/>
            <a:ext cx="538581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3. IF OBJECT_ID Products missing → sqlcmd -i database/schema.sql · set ImportData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" y="2093595"/>
            <a:ext cx="59050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4. -ImportData → import-json-data.ps1 -ConnectionString ... -DataDirectory backend/Data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322195"/>
            <a:ext cx="38347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5. Stop-PortOwner 7099, 5016, 5173 (unless -KeepExisting)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2550795"/>
            <a:ext cx="53726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6. Start-Process dotnet run --urls https://localhost:7099;http://localhost:5016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779395"/>
            <a:ext cx="47023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7. Start-Process pnpm dev --host localhost --port 5173 · sleep 4 · in PID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3400" y="3143250"/>
            <a:ext cx="53340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748665" y="3315652"/>
            <a:ext cx="13470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Ma trận kiểm thử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570" y="3617595"/>
            <a:ext cx="47943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CI tự động: ESLint · Vite build · dotnet Release build · SQL grep + PS1 parse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570" y="3884295"/>
            <a:ext cx="42948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Thủ công API: backend.http · Swagger/OpenAPI dev · Postman/curl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570" y="4150995"/>
            <a:ext cx="39399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Thủ công UI: Vite HMR · flows mua hàng · admin status update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570" y="4417695"/>
            <a:ext cx="45117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8C42"/>
                </a:solidFill>
                <a:latin typeface="Segoe UI"/>
                <a:ea typeface="Microsoft YaHei"/>
                <a:cs typeface="Segoe UI"/>
              </a:rPr>
              <a:t>Đã có Unit Test bằng xUnit · Playwright/Cypress · load test · security scan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4760595"/>
            <a:ext cx="4846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stop-all.ps1: kill processes on ports · run-all.bat / stop-all.bat wrappers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0" y="3143250"/>
            <a:ext cx="55626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22C55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6311265" y="3315652"/>
            <a:ext cx="16368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B46"/>
                </a:solidFill>
                <a:latin typeface="Arial"/>
                <a:ea typeface="Microsoft YaHei"/>
                <a:cs typeface="Arial"/>
              </a:rPr>
              <a:t>Production checklist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13170" y="3617595"/>
            <a:ext cx="32366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Deploy artifact techpro-release từ GitHub Actions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13170" y="3884295"/>
            <a:ext cx="4827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Host FE: nginx/IIS static · BE: Kestrel service · SQL: Azure SQL / on-prem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13170" y="4150995"/>
            <a:ext cx="3473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Cập nhật CORS: production domain thay localhost:5173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13170" y="4417695"/>
            <a:ext cx="30263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Thay JWT Token bằng JWT + refresh token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3170" y="4684395"/>
            <a:ext cx="43605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HTTPS cert · secrets trong appsettings.Production.json / KeyVault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3170" y="4951095"/>
            <a:ext cx="34207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Logging: Serilog · health checks /health · monitoring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14122" y="5340191"/>
            <a:ext cx="2870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8CFF"/>
                </a:solidFill>
                <a:latin typeface="Consolas"/>
                <a:ea typeface="Microsoft YaHei"/>
                <a:cs typeface="Consolas"/>
              </a:rPr>
              <a:t>FE :5173 · BE :7099/:5016 · DB localhost/TechPro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22922" y="6477000"/>
            <a:ext cx="11146155" cy="307181"/>
            <a:chOff x="522922" y="6477000"/>
            <a:chExt cx="11146155" cy="307181"/>
          </a:xfrm>
        </p:grpSpPr>
        <p:sp>
          <p:nvSpPr>
            <p:cNvPr id="31" name="Line 31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2922" y="6616541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15582" y="66165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33400" y="457200"/>
            <a:ext cx="4365117" cy="685800"/>
            <a:chOff x="533400" y="457200"/>
            <a:chExt cx="4365117" cy="685800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38100" cy="342900"/>
            </a:xfrm>
            <a:prstGeom prst="rect">
              <a:avLst/>
            </a:prstGeom>
            <a:solidFill>
              <a:srgbClr val="1A8C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9130" y="516255"/>
              <a:ext cx="25652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2B46"/>
                  </a:solidFill>
                  <a:latin typeface="Arial"/>
                  <a:ea typeface="Microsoft YaHei"/>
                  <a:cs typeface="Arial"/>
                </a:rPr>
                <a:t>Tổng kết tiến độ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0560" y="899160"/>
              <a:ext cx="4227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TechPro E-Commerce — đánh giá mức độ hoàn thiện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33400" y="123825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44855" y="1425892"/>
            <a:ext cx="6657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Đã đạt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8665" y="1791652"/>
            <a:ext cx="35461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Kiến trúc 3 tầng + dual persistence SQL/JSON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8665" y="2096452"/>
            <a:ext cx="28330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25+ REST API · SqlStore 20+ methods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2401252"/>
            <a:ext cx="36457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Frontend 22 routes · 3 Context · 5 API modules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2706052"/>
            <a:ext cx="37301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DB 9 bảng · constraints · indexes · seed/import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3010852"/>
            <a:ext cx="27793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CI 4 jobs + release artifact pipeline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8665" y="3315652"/>
            <a:ext cx="3116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✓ run-all.ps1 automation dev environment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760" y="3680460"/>
            <a:ext cx="13830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8C42"/>
                </a:solidFill>
                <a:latin typeface="Arial"/>
                <a:ea typeface="Microsoft YaHei"/>
                <a:cs typeface="Arial"/>
              </a:rPr>
              <a:t>Hạn chế / TODO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4030028"/>
            <a:ext cx="22886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(Đã khắc phục) Đã tích hợp JWT Auth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4334828"/>
            <a:ext cx="24956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(Đã khắc phục) Đã bổ sung xUnit tests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8665" y="4639628"/>
            <a:ext cx="16368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CORS localhost-only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8665" y="4944428"/>
            <a:ext cx="3162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Minimal API monolith — khó scale team lớn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238250"/>
            <a:ext cx="5372100" cy="4953000"/>
          </a:xfrm>
          <a:prstGeom prst="roundRect">
            <a:avLst>
              <a:gd name="adj" fmla="val 2308"/>
            </a:avLst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8653739" y="2213610"/>
            <a:ext cx="599524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-VN" altLang="zh-CN" sz="4200" b="1" dirty="0">
                <a:solidFill>
                  <a:srgbClr val="1A8CFF"/>
                </a:solidFill>
                <a:latin typeface="Arial"/>
                <a:ea typeface="Microsoft YaHei"/>
                <a:cs typeface="Arial"/>
              </a:rPr>
              <a:t>21</a:t>
            </a:r>
            <a:endParaRPr lang="zh-CN" sz="4200" b="1" dirty="0">
              <a:solidFill>
                <a:srgbClr val="1A8CFF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501961" y="2997518"/>
            <a:ext cx="29030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slide báo cáo chi tiết kỹ thuật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64789" y="3696652"/>
            <a:ext cx="33774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github.com/Chieenslee/TechPro_E-Commerce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90572" y="4061460"/>
            <a:ext cx="11258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Cảm ơn — Q&amp;A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22922" y="6477000"/>
            <a:ext cx="11146156" cy="307181"/>
            <a:chOff x="522922" y="6477000"/>
            <a:chExt cx="11146156" cy="307181"/>
          </a:xfrm>
        </p:grpSpPr>
        <p:sp>
          <p:nvSpPr>
            <p:cNvPr id="25" name="Line 25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2922" y="6616541"/>
              <a:ext cx="22440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TechPro E-Commerce · Báo cáo tiến độ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45705" y="66165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21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15057</Words>
  <Application>Microsoft Office PowerPoint</Application>
  <PresentationFormat>Widescreen</PresentationFormat>
  <Paragraphs>555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1871020089 Lê Trọng Chiến</cp:lastModifiedBy>
  <cp:revision>2</cp:revision>
  <dcterms:created xsi:type="dcterms:W3CDTF">2013-01-27T09:14:16Z</dcterms:created>
  <dcterms:modified xsi:type="dcterms:W3CDTF">2026-05-18T05:48:13Z</dcterms:modified>
  <cp:category/>
</cp:coreProperties>
</file>